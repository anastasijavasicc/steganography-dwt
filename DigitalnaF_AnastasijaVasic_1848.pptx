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9" r:id="rId12"/>
    <p:sldId id="268" r:id="rId13"/>
    <p:sldId id="267" r:id="rId14"/>
    <p:sldId id="271" r:id="rId15"/>
    <p:sldId id="272" r:id="rId16"/>
    <p:sldId id="270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6B4E5-4F22-4529-879C-3B9AF77B92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24388-599C-4DC8-AC4D-EC2ECA5D2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42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" name="Google Shape;1243;g18745b99769_0_1831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18745b99769_0_183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1" y="1"/>
            <a:ext cx="307340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33651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33651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34736" y="5410203"/>
            <a:ext cx="2743200" cy="365125"/>
          </a:xfrm>
        </p:spPr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33650" y="5410203"/>
            <a:ext cx="512488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4138" y="5410201"/>
            <a:ext cx="771089" cy="365125"/>
          </a:xfrm>
        </p:spPr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40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1141414" y="618518"/>
            <a:ext cx="99059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1141414" y="2249487"/>
            <a:ext cx="99059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8"/>
            <a:ext cx="2743200" cy="365125"/>
          </a:xfrm>
        </p:spPr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2" y="5883277"/>
            <a:ext cx="62393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2" y="5883276"/>
            <a:ext cx="771089" cy="365125"/>
          </a:xfrm>
        </p:spPr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8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69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1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8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8537" y="2249486"/>
            <a:ext cx="45812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1" y="3073399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69323" y="2249485"/>
            <a:ext cx="4578087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9"/>
            <a:ext cx="487521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35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6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43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6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1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6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49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5" y="609600"/>
            <a:ext cx="5005283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43822" y="609600"/>
            <a:ext cx="4603591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2" y="2249486"/>
            <a:ext cx="5005285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80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4304666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5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5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0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7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419601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83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1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3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928772" y="7184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3297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0425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2134043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5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79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4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1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41412" y="3360263"/>
            <a:ext cx="3195243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8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4767" y="3363435"/>
            <a:ext cx="3185277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3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3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60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4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8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4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3" y="4980856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66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09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1" y="609601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601"/>
            <a:ext cx="7748591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582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text 2" userDrawn="1">
  <p:cSld name="Title and text 2">
    <p:bg>
      <p:bgPr>
        <a:gradFill>
          <a:gsLst>
            <a:gs pos="0">
              <a:schemeClr val="accent5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 bwMode="auto">
          <a:xfrm>
            <a:off x="346600" y="335200"/>
            <a:ext cx="11498800" cy="6187600"/>
          </a:xfrm>
          <a:prstGeom prst="roundRect">
            <a:avLst>
              <a:gd name="adj" fmla="val 5278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chemeClr val="accent2">
                <a:alpha val="21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1"/>
          </p:nvPr>
        </p:nvSpPr>
        <p:spPr bwMode="auto">
          <a:xfrm>
            <a:off x="7421799" y="2047167"/>
            <a:ext cx="3098800" cy="1671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650" b="1">
                <a:latin typeface="Shippori Antique"/>
                <a:ea typeface="Shippori Antique"/>
                <a:cs typeface="Shippori Anti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2"/>
          </p:nvPr>
        </p:nvSpPr>
        <p:spPr bwMode="auto">
          <a:xfrm>
            <a:off x="7421799" y="3718833"/>
            <a:ext cx="3098800" cy="8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7"/>
          <p:cNvSpPr/>
          <p:nvPr/>
        </p:nvSpPr>
        <p:spPr bwMode="auto">
          <a:xfrm rot="-5400000">
            <a:off x="126200" y="554600"/>
            <a:ext cx="6189600" cy="5748800"/>
          </a:xfrm>
          <a:prstGeom prst="round2SameRect">
            <a:avLst>
              <a:gd name="adj1" fmla="val 5481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/>
          </a:p>
        </p:txBody>
      </p:sp>
      <p:sp>
        <p:nvSpPr>
          <p:cNvPr id="83" name="Google Shape;83;p17"/>
          <p:cNvSpPr>
            <a:spLocks noGrp="1"/>
          </p:cNvSpPr>
          <p:nvPr>
            <p:ph type="pic" idx="3"/>
          </p:nvPr>
        </p:nvSpPr>
        <p:spPr bwMode="auto">
          <a:xfrm>
            <a:off x="1249800" y="1457800"/>
            <a:ext cx="3942400" cy="3942400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49137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9051" y="1"/>
            <a:ext cx="12055699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4" y="618518"/>
            <a:ext cx="99059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4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FA61D-E0A9-4B0C-BEE9-A039D9811A7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7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2" y="5883276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CE066-EF70-4326-8AB8-1AA8C361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7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3950-6ED1-C0AF-CB8F-B026F2880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7060" y="2197271"/>
            <a:ext cx="8791575" cy="1571833"/>
          </a:xfrm>
        </p:spPr>
        <p:txBody>
          <a:bodyPr/>
          <a:lstStyle/>
          <a:p>
            <a:pPr algn="ctr"/>
            <a:r>
              <a:rPr lang="sr-Latn-RS" noProof="1"/>
              <a:t>DWT i SVD algoritmi</a:t>
            </a:r>
            <a:br>
              <a:rPr lang="sr-Latn-RS" noProof="1"/>
            </a:br>
            <a:r>
              <a:rPr lang="sr-Latn-RS" sz="2800" cap="none" noProof="1"/>
              <a:t>Steganografija i watermarking</a:t>
            </a:r>
            <a:endParaRPr lang="sr-Latn-RS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36FCFD-066A-9995-A984-5228C1AC6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4381" y="5462311"/>
            <a:ext cx="8791575" cy="526774"/>
          </a:xfrm>
        </p:spPr>
        <p:txBody>
          <a:bodyPr>
            <a:normAutofit fontScale="92500"/>
          </a:bodyPr>
          <a:lstStyle/>
          <a:p>
            <a:r>
              <a:rPr lang="sr-Latn-RS" cap="none" noProof="1"/>
              <a:t>Anastasija Vasić, 1848                                                                  Digitalna forenzika</a:t>
            </a:r>
          </a:p>
        </p:txBody>
      </p:sp>
    </p:spTree>
    <p:extLst>
      <p:ext uri="{BB962C8B-B14F-4D97-AF65-F5344CB8AC3E}">
        <p14:creationId xmlns:p14="http://schemas.microsoft.com/office/powerpoint/2010/main" val="2758369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86092-D49B-25BB-4DB2-880880B42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sr-Latn-RS" sz="4000" cap="none" noProof="1"/>
              <a:t>Uvod u steganografiju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E1B5F-44AE-E9E4-0336-CD11CF9EA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2097088"/>
            <a:ext cx="9905999" cy="4142394"/>
          </a:xfrm>
        </p:spPr>
        <p:txBody>
          <a:bodyPr>
            <a:normAutofit lnSpcReduction="10000"/>
          </a:bodyPr>
          <a:lstStyle/>
          <a:p>
            <a:r>
              <a:rPr lang="sr-Latn-RS" sz="2200" b="1" noProof="1"/>
              <a:t>Steganografija</a:t>
            </a:r>
            <a:r>
              <a:rPr lang="sr-Latn-RS" sz="2200" noProof="1"/>
              <a:t> je disciplina skrivanja podataka u drugi skup podataka (nosač) tako da posmatrač ne može da primeti da poruka uopšte postoji. Nosači mogu biti slike, audio, video, tekst ili mrežni protokoli.</a:t>
            </a:r>
          </a:p>
          <a:p>
            <a:pPr lvl="1"/>
            <a:r>
              <a:rPr lang="sr-Latn-RS" noProof="1"/>
              <a:t>Digitalne slike su posebno pogodne zbog velike redundanse i osobina ljudskog vizuelnog sistema - sitne promene piksela, ako su pažljivo raspoređene, ostaju vizuelno neprimetne.</a:t>
            </a:r>
          </a:p>
          <a:p>
            <a:r>
              <a:rPr lang="sr-Latn-RS" sz="2200" noProof="1"/>
              <a:t>Funkcija steganografije je omogućavanje tajne komunikacije, skrivanje osetljivih informacija, diskretno obeležavanje ili čuvanje dodatnih podataka bez vidljivog narušavanja originalnog sadržaja.</a:t>
            </a:r>
          </a:p>
          <a:p>
            <a:r>
              <a:rPr lang="sr-Latn-RS" sz="2200" b="1" noProof="1"/>
              <a:t>Primena:</a:t>
            </a:r>
            <a:r>
              <a:rPr lang="sr-Latn-RS" sz="2200" noProof="1"/>
              <a:t> Zaštita poverljivih poruka, obeležavanje digitalnih dokaza u forenzici, zaštita autorskih prava, verifikacija autentičnosti dokumenata i multimedije.</a:t>
            </a:r>
          </a:p>
        </p:txBody>
      </p:sp>
    </p:spTree>
    <p:extLst>
      <p:ext uri="{BB962C8B-B14F-4D97-AF65-F5344CB8AC3E}">
        <p14:creationId xmlns:p14="http://schemas.microsoft.com/office/powerpoint/2010/main" val="3529817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F9AC5-0C23-C4D3-483C-633D19A9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cap="none" noProof="1"/>
              <a:t>Steganografija vs. Kriptografija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7372-7EC3-1CCA-702D-2D6A71EFD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r-Latn-RS" noProof="1"/>
              <a:t>Kriptografija štiti </a:t>
            </a:r>
            <a:r>
              <a:rPr lang="sr-Latn-RS" b="1" noProof="1"/>
              <a:t>sadržaj</a:t>
            </a:r>
            <a:r>
              <a:rPr lang="sr-Latn-RS" noProof="1"/>
              <a:t> - poruka je vidljiva, ali nečitljiva bez ključa.</a:t>
            </a:r>
          </a:p>
          <a:p>
            <a:r>
              <a:rPr lang="sr-Latn-RS" noProof="1"/>
              <a:t>Steganografija štiti </a:t>
            </a:r>
            <a:r>
              <a:rPr lang="sr-Latn-RS" b="1" noProof="1"/>
              <a:t>postojanje komunikacije</a:t>
            </a:r>
            <a:r>
              <a:rPr lang="sr-Latn-RS" noProof="1"/>
              <a:t> - poruka je “sakrivena” u naizgled običnom fajlu.</a:t>
            </a:r>
          </a:p>
          <a:p>
            <a:r>
              <a:rPr lang="sr-Latn-RS" noProof="1"/>
              <a:t>U praksi se često kombinuju: poruka se prvo šifruje, zatim steganografski ugradi.</a:t>
            </a:r>
          </a:p>
          <a:p>
            <a:r>
              <a:rPr lang="sr-Latn-RS" b="1" noProof="1"/>
              <a:t>Ključni zahtevi dobrog sistema:</a:t>
            </a:r>
            <a:r>
              <a:rPr lang="sr-Latn-RS" noProof="1"/>
              <a:t> nevidljivost (vizuelno/verbalno neupadljiv nosač), dovoljno veliki kapacitet, robustnost na obradu (kompresija, filtriranje…) i otpornost na stegoanalizu.</a:t>
            </a:r>
          </a:p>
        </p:txBody>
      </p:sp>
    </p:spTree>
    <p:extLst>
      <p:ext uri="{BB962C8B-B14F-4D97-AF65-F5344CB8AC3E}">
        <p14:creationId xmlns:p14="http://schemas.microsoft.com/office/powerpoint/2010/main" val="2908353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2ED2-6DD2-54FC-BF29-C5957D3D2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cap="none" noProof="1"/>
              <a:t>Tehnike steganografije slika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3F17D-367B-EF04-FE2A-6FDA4E8E8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1977886"/>
            <a:ext cx="10219012" cy="4261595"/>
          </a:xfrm>
        </p:spPr>
        <p:txBody>
          <a:bodyPr>
            <a:normAutofit lnSpcReduction="10000"/>
          </a:bodyPr>
          <a:lstStyle/>
          <a:p>
            <a:r>
              <a:rPr lang="sr-Latn-RS" b="1" noProof="1"/>
              <a:t>Prostorni domen</a:t>
            </a:r>
            <a:r>
              <a:rPr lang="sr-Latn-RS" noProof="1"/>
              <a:t>: direktno menjanje vrednosti piksela.</a:t>
            </a:r>
          </a:p>
          <a:p>
            <a:pPr lvl="1"/>
            <a:r>
              <a:rPr lang="sr-Latn-RS" noProof="1"/>
              <a:t>Tipični predstavnici su LSB (Least Significant Bit) i njegove brojne varijante (LSB matching, PVD - Pixel Value Differencing, adaptivne šeme). </a:t>
            </a:r>
          </a:p>
          <a:p>
            <a:pPr lvl="1"/>
            <a:r>
              <a:rPr lang="sr-Latn-RS" noProof="1"/>
              <a:t>Prednosti su jednostavnost i veliki kapacitet; glavna mana je osetljivost na JPEG kompresiju i filtriranja.</a:t>
            </a:r>
          </a:p>
          <a:p>
            <a:r>
              <a:rPr lang="sr-Latn-RS" b="1" noProof="1"/>
              <a:t>Transformacioni domen</a:t>
            </a:r>
            <a:r>
              <a:rPr lang="sr-Latn-RS" noProof="1"/>
              <a:t>: ugradnja u koeficijente nakon transformacije slike.</a:t>
            </a:r>
          </a:p>
          <a:p>
            <a:pPr lvl="1"/>
            <a:r>
              <a:rPr lang="sr-Latn-RS" noProof="1"/>
              <a:t>Npr. DCT, DWT, DFT, ali i reverzibilne talasne transformacije. </a:t>
            </a:r>
          </a:p>
          <a:p>
            <a:pPr lvl="1"/>
            <a:r>
              <a:rPr lang="sr-Latn-RS" noProof="1"/>
              <a:t>Ove metode su kompleksnije, ali nude sofisticiranije upravljanje percepcijom i često bolju otpornost na tipične obrade (npr. JPEG je zasnovan na DCT-u, pa ugradnja u DCT koeficijente može biti posebno efikasna).</a:t>
            </a:r>
          </a:p>
          <a:p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724285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E51B-0506-DDD1-7E2F-BD1B032D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320414"/>
            <a:ext cx="9905999" cy="1478570"/>
          </a:xfrm>
        </p:spPr>
        <p:txBody>
          <a:bodyPr/>
          <a:lstStyle/>
          <a:p>
            <a:pPr algn="ctr"/>
            <a:r>
              <a:rPr lang="sr-Latn-RS" cap="none" noProof="1"/>
              <a:t>Zašto </a:t>
            </a:r>
            <a:r>
              <a:rPr lang="sr-Latn-RS" noProof="1"/>
              <a:t>DWT </a:t>
            </a:r>
            <a:r>
              <a:rPr lang="sr-Latn-RS" cap="none" noProof="1"/>
              <a:t>i</a:t>
            </a:r>
            <a:r>
              <a:rPr lang="sr-Latn-RS" noProof="1"/>
              <a:t> SVD?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DF621-3244-653E-1927-681841D32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1421297"/>
            <a:ext cx="9905999" cy="5218042"/>
          </a:xfrm>
        </p:spPr>
        <p:txBody>
          <a:bodyPr>
            <a:normAutofit fontScale="92500" lnSpcReduction="20000"/>
          </a:bodyPr>
          <a:lstStyle/>
          <a:p>
            <a:r>
              <a:rPr lang="sr-Latn-RS" noProof="1"/>
              <a:t>Nedostaci prostornog domena (npr. LSB):</a:t>
            </a:r>
          </a:p>
          <a:p>
            <a:pPr lvl="1"/>
            <a:r>
              <a:rPr lang="sr-Latn-RS" noProof="1"/>
              <a:t>osetljivost na kompresiju (JPEG), filtriranje i šum, lako otkrivanje stegoanalizom</a:t>
            </a:r>
          </a:p>
          <a:p>
            <a:r>
              <a:rPr lang="sr-Latn-RS" noProof="1"/>
              <a:t>Prednost transformacionog domena:</a:t>
            </a:r>
          </a:p>
          <a:p>
            <a:pPr lvl="1"/>
            <a:r>
              <a:rPr lang="sr-Latn-RS" noProof="1"/>
              <a:t>ugradnja u koeficijente nakon transformacije (DCT, DWT...), veća kontrola nad nevidljivošću i robusnošću</a:t>
            </a:r>
          </a:p>
          <a:p>
            <a:r>
              <a:rPr lang="sr-Latn-RS" noProof="1"/>
              <a:t>Zašto DWT (Discrete Wavelet Transform):</a:t>
            </a:r>
          </a:p>
          <a:p>
            <a:pPr lvl="1"/>
            <a:r>
              <a:rPr lang="sr-Latn-RS" noProof="1"/>
              <a:t>razlaže sliku na podopsege (LL, LH, HL, HH), omogućava izbor zona gde je ljudsko oko manje osetljivo</a:t>
            </a:r>
          </a:p>
          <a:p>
            <a:r>
              <a:rPr lang="sr-Latn-RS" noProof="1"/>
              <a:t>Zašto SVD (Singular Value Decomposition):</a:t>
            </a:r>
          </a:p>
          <a:p>
            <a:pPr lvl="1"/>
            <a:r>
              <a:rPr lang="sr-Latn-RS" noProof="1"/>
              <a:t>singularne vrednosti stabilne na razne smetnje, male izmene → mala vizuelna razlika, dobra otpornost</a:t>
            </a:r>
          </a:p>
          <a:p>
            <a:r>
              <a:rPr lang="sr-Latn-RS" noProof="1"/>
              <a:t>Kombinacijom DWT + SVD postiže se bolji balans: </a:t>
            </a:r>
          </a:p>
          <a:p>
            <a:pPr marL="0" indent="0">
              <a:buNone/>
            </a:pPr>
            <a:r>
              <a:rPr lang="sr-Latn-RS" noProof="1"/>
              <a:t>   nevidljivost + robustnost → upravo pristup koji koristi ovaj rad.</a:t>
            </a:r>
          </a:p>
        </p:txBody>
      </p:sp>
    </p:spTree>
    <p:extLst>
      <p:ext uri="{BB962C8B-B14F-4D97-AF65-F5344CB8AC3E}">
        <p14:creationId xmlns:p14="http://schemas.microsoft.com/office/powerpoint/2010/main" val="133555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C9620-D91F-673B-8663-ED0D085E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00534"/>
            <a:ext cx="9905999" cy="1478570"/>
          </a:xfrm>
        </p:spPr>
        <p:txBody>
          <a:bodyPr/>
          <a:lstStyle/>
          <a:p>
            <a:pPr algn="ctr"/>
            <a:r>
              <a:rPr lang="sr-Latn-RS" cap="none" noProof="1"/>
              <a:t>Digitalni Watermarking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B8EF7-4A8F-2197-8F49-0C76B0491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340" y="1490870"/>
            <a:ext cx="10813774" cy="5158408"/>
          </a:xfrm>
        </p:spPr>
        <p:txBody>
          <a:bodyPr>
            <a:normAutofit fontScale="85000" lnSpcReduction="10000"/>
          </a:bodyPr>
          <a:lstStyle/>
          <a:p>
            <a:r>
              <a:rPr lang="sr-Latn-RS" b="1" noProof="1"/>
              <a:t>Digitalni watermarking </a:t>
            </a:r>
            <a:r>
              <a:rPr lang="sr-Latn-RS" noProof="1"/>
              <a:t>predstavlja postupak ugradnje skrivenog identifikatora (loga, serijskog broja, teksta) u digitalni sadržaj (sliku, video, audio) radi zaštite autorskih prava, autentifikacije ili praćenja.</a:t>
            </a:r>
          </a:p>
          <a:p>
            <a:r>
              <a:rPr lang="sr-Latn-RS" noProof="1"/>
              <a:t>Sličnost sa </a:t>
            </a:r>
            <a:r>
              <a:rPr lang="sr-Latn-RS" sz="2600" noProof="1"/>
              <a:t>steganografijom</a:t>
            </a:r>
            <a:r>
              <a:rPr lang="sr-Latn-RS" noProof="1"/>
              <a:t>:</a:t>
            </a:r>
          </a:p>
          <a:p>
            <a:pPr lvl="1"/>
            <a:r>
              <a:rPr lang="sr-Latn-RS" sz="2100" noProof="1"/>
              <a:t>koristi se skrivena informacija, cilj je da izmene budu vizuelno neprimetne.</a:t>
            </a:r>
          </a:p>
          <a:p>
            <a:r>
              <a:rPr lang="sr-Latn-RS" noProof="1"/>
              <a:t>Razlika u odnosu na steganografiju:</a:t>
            </a:r>
          </a:p>
          <a:p>
            <a:pPr lvl="1"/>
            <a:r>
              <a:rPr lang="sr-Latn-RS" sz="2100" noProof="1"/>
              <a:t>steganografija: fokus na tajnoj komunikaciji (da niko ne primeti da poruka postoji)</a:t>
            </a:r>
          </a:p>
          <a:p>
            <a:pPr lvl="1"/>
            <a:r>
              <a:rPr lang="sr-Latn-RS" sz="2100" noProof="1"/>
              <a:t>watermarking: fokus na obeležavanju vlasništva i integriteta, često sa naglašenom robustnošću na obradu sadržaja.</a:t>
            </a:r>
          </a:p>
          <a:p>
            <a:r>
              <a:rPr lang="sr-Latn-RS" noProof="1"/>
              <a:t>Robustan vs. fragilan watermark:</a:t>
            </a:r>
          </a:p>
          <a:p>
            <a:pPr lvl="1"/>
            <a:r>
              <a:rPr lang="sr-Latn-RS" sz="2100" noProof="1"/>
              <a:t>robustan: preživljava kompresiju, filtriranje, šum → zaštita autorskih prava</a:t>
            </a:r>
          </a:p>
          <a:p>
            <a:pPr lvl="1"/>
            <a:r>
              <a:rPr lang="sr-Latn-RS" sz="2100" noProof="1"/>
              <a:t>fragilan: lako se uništava → detekcija neovlašćenih izmena.</a:t>
            </a:r>
          </a:p>
          <a:p>
            <a:r>
              <a:rPr lang="sr-Latn-RS" noProof="1"/>
              <a:t>Zašto je bitan u ovom radu: kombinacija DWT + SVD se koristi za formiranje robustnog, nevidljivog watermarka u slikama.</a:t>
            </a:r>
          </a:p>
        </p:txBody>
      </p:sp>
    </p:spTree>
    <p:extLst>
      <p:ext uri="{BB962C8B-B14F-4D97-AF65-F5344CB8AC3E}">
        <p14:creationId xmlns:p14="http://schemas.microsoft.com/office/powerpoint/2010/main" val="3530026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40FB-AEE5-B842-26F7-6B446BBC2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230892"/>
            <a:ext cx="9905999" cy="1478570"/>
          </a:xfrm>
        </p:spPr>
        <p:txBody>
          <a:bodyPr/>
          <a:lstStyle/>
          <a:p>
            <a:pPr algn="ctr"/>
            <a:r>
              <a:rPr lang="sr-Latn-RS" cap="none" noProof="1"/>
              <a:t>DWT (Discrete Wavelet Transform)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9DC68-43D7-1493-7237-131E1E417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1620078"/>
            <a:ext cx="9905999" cy="4929809"/>
          </a:xfrm>
        </p:spPr>
        <p:txBody>
          <a:bodyPr>
            <a:normAutofit fontScale="85000" lnSpcReduction="10000"/>
          </a:bodyPr>
          <a:lstStyle/>
          <a:p>
            <a:r>
              <a:rPr lang="sr-Latn-RS" b="1" noProof="1"/>
              <a:t>DWT</a:t>
            </a:r>
            <a:r>
              <a:rPr lang="sr-Latn-RS" noProof="1"/>
              <a:t> je transformacija koja digitalnu sliku razlaže na skup podslika različitih frekvencija i rezolucija, kako bi se odvojili grubi oblici od finih detalja.</a:t>
            </a:r>
          </a:p>
          <a:p>
            <a:r>
              <a:rPr lang="sr-Latn-RS" noProof="1"/>
              <a:t>Nakon jednog nivoa transformacije dobijamo 4 podopsega:</a:t>
            </a:r>
          </a:p>
          <a:p>
            <a:pPr lvl="1"/>
            <a:r>
              <a:rPr lang="sr-Latn-RS" noProof="1"/>
              <a:t>LL – niskofrekventni deo (osnovna struktura slike)</a:t>
            </a:r>
          </a:p>
          <a:p>
            <a:pPr lvl="1"/>
            <a:r>
              <a:rPr lang="sr-Latn-RS" noProof="1"/>
              <a:t>LH – horizontalni detalji</a:t>
            </a:r>
          </a:p>
          <a:p>
            <a:pPr lvl="1"/>
            <a:r>
              <a:rPr lang="sr-Latn-RS" noProof="1"/>
              <a:t>HL – vertikalni detalji</a:t>
            </a:r>
          </a:p>
          <a:p>
            <a:pPr lvl="1"/>
            <a:r>
              <a:rPr lang="sr-Latn-RS" noProof="1"/>
              <a:t>HH – dijagonalni detalji</a:t>
            </a:r>
          </a:p>
          <a:p>
            <a:r>
              <a:rPr lang="sr-Latn-RS" noProof="1"/>
              <a:t>Za watermarking je važno:</a:t>
            </a:r>
          </a:p>
          <a:p>
            <a:pPr lvl="1"/>
            <a:r>
              <a:rPr lang="sr-Latn-RS" noProof="1"/>
              <a:t>izbor podopsega utiče na nevidljivost i robustnost watermarka</a:t>
            </a:r>
          </a:p>
          <a:p>
            <a:pPr lvl="1"/>
            <a:r>
              <a:rPr lang="sr-Latn-RS" noProof="1"/>
              <a:t>srednji frekvencijski opsezi (LH/HL) često daju najbolji kompromis</a:t>
            </a:r>
          </a:p>
          <a:p>
            <a:r>
              <a:rPr lang="sr-Latn-RS" noProof="1"/>
              <a:t>Prednost DWT:</a:t>
            </a:r>
          </a:p>
          <a:p>
            <a:pPr lvl="1"/>
            <a:r>
              <a:rPr lang="sr-Latn-RS" noProof="1"/>
              <a:t>omogućava lokalnu kontrolu gde i kako se watermark ugrađuje,</a:t>
            </a:r>
          </a:p>
          <a:p>
            <a:pPr lvl="1"/>
            <a:r>
              <a:rPr lang="sr-Latn-RS" noProof="1"/>
              <a:t>bolje ponašanje pri kompresiji i obradi u odnosu na prostorne metode.</a:t>
            </a:r>
          </a:p>
        </p:txBody>
      </p:sp>
    </p:spTree>
    <p:extLst>
      <p:ext uri="{BB962C8B-B14F-4D97-AF65-F5344CB8AC3E}">
        <p14:creationId xmlns:p14="http://schemas.microsoft.com/office/powerpoint/2010/main" val="1323062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2DE6-7024-CB2C-00A9-45F77CD86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noProof="1"/>
              <a:t>SWD (</a:t>
            </a:r>
            <a:r>
              <a:rPr lang="sr-Latn-RS" cap="none" noProof="1"/>
              <a:t>Singular Value Decomposition</a:t>
            </a:r>
            <a:r>
              <a:rPr lang="sr-Latn-RS" noProof="1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DEDFF8-3EE2-D684-6F71-C1776FC9C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4" y="2249486"/>
                <a:ext cx="9905999" cy="3873017"/>
              </a:xfrm>
            </p:spPr>
            <p:txBody>
              <a:bodyPr>
                <a:normAutofit/>
              </a:bodyPr>
              <a:lstStyle/>
              <a:p>
                <a:r>
                  <a:rPr lang="sr-Latn-RS" noProof="1"/>
                  <a:t>SVD dekomponuje matricu slike </a:t>
                </a:r>
                <a14:m>
                  <m:oMath xmlns:m="http://schemas.openxmlformats.org/officeDocument/2006/math">
                    <m:r>
                      <a:rPr lang="sr-Latn-RS" i="1" noProof="1" dirty="0" smtClean="0"/>
                      <m:t>𝐴</m:t>
                    </m:r>
                    <m:r>
                      <a:rPr lang="sr-Latn-RS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r-Latn-RS" noProof="1"/>
                  <a:t>na proizvod tri matrice: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i="1" noProof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r-Latn-RS" b="0" i="1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r-Latn-RS" b="0" i="1" noProof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sr-Latn-RS" i="1" noProof="1" dirty="0" smtClean="0">
                          <a:latin typeface="Cambria Math" panose="02040503050406030204" pitchFamily="18" charset="0"/>
                        </a:rPr>
                        <m:t>𝛴</m:t>
                      </m:r>
                      <m:sSup>
                        <m:sSupPr>
                          <m:ctrlPr>
                            <a:rPr lang="sr-Latn-RS" b="0" i="1" noProof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r-Latn-RS" b="0" i="1" noProof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sr-Latn-RS" b="0" i="1" noProof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sr-Latn-RS" noProof="1"/>
              </a:p>
              <a:p>
                <a:pPr marL="0" indent="0">
                  <a:buNone/>
                </a:pPr>
                <a:r>
                  <a:rPr lang="sr-Latn-RS" sz="2000" noProof="1"/>
                  <a:t>gde je </a:t>
                </a:r>
                <a14:m>
                  <m:oMath xmlns:m="http://schemas.openxmlformats.org/officeDocument/2006/math">
                    <m:r>
                      <a:rPr lang="sr-Latn-RS" sz="2000" i="1" noProof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sr-Latn-RS" sz="2000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r-Latn-RS" sz="2000" noProof="1"/>
                  <a:t>ortogonalna matrica, </a:t>
                </a:r>
                <a14:m>
                  <m:oMath xmlns:m="http://schemas.openxmlformats.org/officeDocument/2006/math">
                    <m:r>
                      <a:rPr lang="sr-Latn-RS" sz="2000" i="1" noProof="1" dirty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sr-Latn-RS" sz="2000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r-Latn-RS" sz="2000" noProof="1"/>
                  <a:t>dijagonalna matrica singularnih vrednosti,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r-Latn-RS" sz="2000" i="1" noProof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r-Latn-RS" sz="2000" i="1" noProof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sr-Latn-RS" sz="2000" i="1" noProof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sr-Latn-RS" sz="2000" noProof="1"/>
                  <a:t>transponovana ortogonalna matrica</a:t>
                </a:r>
              </a:p>
              <a:p>
                <a:r>
                  <a:rPr lang="sr-Latn-RS" noProof="1"/>
                  <a:t>Zašto je važan SVD:</a:t>
                </a:r>
              </a:p>
              <a:p>
                <a:pPr lvl="1"/>
                <a:r>
                  <a:rPr lang="sr-Latn-RS" noProof="1"/>
                  <a:t>singularne vrednosti nose značajan deo energije slike,</a:t>
                </a:r>
              </a:p>
              <a:p>
                <a:pPr lvl="1"/>
                <a:r>
                  <a:rPr lang="sr-Latn-RS" noProof="1"/>
                  <a:t>male izmene u </a:t>
                </a:r>
                <a14:m>
                  <m:oMath xmlns:m="http://schemas.openxmlformats.org/officeDocument/2006/math">
                    <m:r>
                      <a:rPr lang="sr-Latn-RS" i="1" noProof="1" dirty="0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sr-Latn-RS" noProof="1"/>
                  <a:t> obično ne prave vidljive promene u slici,</a:t>
                </a:r>
              </a:p>
              <a:p>
                <a:pPr lvl="1"/>
                <a:r>
                  <a:rPr lang="sr-Latn-RS" noProof="1"/>
                  <a:t>pokazuje dobru stabilnost na razne obrade (šum, kompresija).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DEDFF8-3EE2-D684-6F71-C1776FC9C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4" y="2249486"/>
                <a:ext cx="9905999" cy="3873017"/>
              </a:xfrm>
              <a:blipFill>
                <a:blip r:embed="rId2"/>
                <a:stretch>
                  <a:fillRect l="-1231" t="-2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4875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7A0D-DE72-CDFC-9F20-BCC91435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noProof="1"/>
              <a:t>SWD (</a:t>
            </a:r>
            <a:r>
              <a:rPr lang="sr-Latn-RS" cap="none" noProof="1"/>
              <a:t>Singular Value Decomposition</a:t>
            </a:r>
            <a:r>
              <a:rPr lang="sr-Latn-RS" noProof="1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4117-0A45-7951-ED39-83D1696B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noProof="1"/>
              <a:t>Primena u watermarkingu:</a:t>
            </a:r>
          </a:p>
          <a:p>
            <a:pPr lvl="1"/>
            <a:r>
              <a:rPr lang="sr-Latn-RS" noProof="1"/>
              <a:t>watermark se ugrađuje modifikacijom singularnih vrednosti u odabranom DWT podopsegu,</a:t>
            </a:r>
          </a:p>
          <a:p>
            <a:r>
              <a:rPr lang="sr-Latn-RS" noProof="1"/>
              <a:t>Postiže se kombinacija:</a:t>
            </a:r>
          </a:p>
          <a:p>
            <a:pPr lvl="1"/>
            <a:r>
              <a:rPr lang="sr-Latn-RS" noProof="1"/>
              <a:t>nevidljivosti (slika vizuelno ista),</a:t>
            </a:r>
          </a:p>
          <a:p>
            <a:pPr lvl="1"/>
            <a:r>
              <a:rPr lang="sr-Latn-RS" noProof="1"/>
              <a:t>robustnosti (watermark se zadržava nakon napada).</a:t>
            </a:r>
          </a:p>
        </p:txBody>
      </p:sp>
    </p:spTree>
    <p:extLst>
      <p:ext uri="{BB962C8B-B14F-4D97-AF65-F5344CB8AC3E}">
        <p14:creationId xmlns:p14="http://schemas.microsoft.com/office/powerpoint/2010/main" val="1096184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B232-27C6-8645-3FB1-71D2FC8A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327514"/>
            <a:ext cx="9905999" cy="1478570"/>
          </a:xfrm>
        </p:spPr>
        <p:txBody>
          <a:bodyPr/>
          <a:lstStyle/>
          <a:p>
            <a:pPr algn="ctr"/>
            <a:r>
              <a:rPr lang="sr-Latn-RS" cap="none" noProof="1"/>
              <a:t>Kombinacija </a:t>
            </a:r>
            <a:r>
              <a:rPr lang="sr-Latn-RS" noProof="1"/>
              <a:t>DWT+SVD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95D8D-2F00-BDEC-6D60-1A8C84895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1620078"/>
            <a:ext cx="9905999" cy="4910408"/>
          </a:xfrm>
        </p:spPr>
        <p:txBody>
          <a:bodyPr>
            <a:normAutofit fontScale="85000" lnSpcReduction="10000"/>
          </a:bodyPr>
          <a:lstStyle/>
          <a:p>
            <a:r>
              <a:rPr lang="sr-Latn-RS" noProof="1"/>
              <a:t>Metoda DWT+SVD koristi prednosti obe transformacije u istom okviru:</a:t>
            </a:r>
          </a:p>
          <a:p>
            <a:pPr lvl="1"/>
            <a:r>
              <a:rPr lang="sr-Latn-RS" noProof="1"/>
              <a:t>DWT razlaže sliku na podopsege (LL, LH, HL, HH) i omogućava da se watermark ugrađuje u one zone gde je ljudsko oko manje osetljivo, čime se čuva neprimetnost.</a:t>
            </a:r>
          </a:p>
          <a:p>
            <a:pPr lvl="1"/>
            <a:r>
              <a:rPr lang="sr-Latn-RS" noProof="1"/>
              <a:t>SVD nad izabranim podopsezima koristi stabilne singularne vrednosti, pa male izmene u njima zadržavaju vizuelni kvalitet slike, ali obezbeđuju postojan watermark i bolju otpornost na obrade.</a:t>
            </a:r>
          </a:p>
          <a:p>
            <a:r>
              <a:rPr lang="sr-Latn-RS" noProof="1"/>
              <a:t>Ključna ideja metode:</a:t>
            </a:r>
          </a:p>
          <a:p>
            <a:pPr lvl="1"/>
            <a:r>
              <a:rPr lang="sr-Latn-RS" noProof="1"/>
              <a:t>informacija watermarka se inkorporira u singularne vrednosti odabranog DWT podopsega,</a:t>
            </a:r>
          </a:p>
          <a:p>
            <a:pPr lvl="1"/>
            <a:r>
              <a:rPr lang="sr-Latn-RS" noProof="1"/>
              <a:t>na taj način watermark postaje: nevidljiv (vizuelne promene minimalne) i robustan (zadržava se nakon kompresije, šuma i drugih napada).</a:t>
            </a:r>
          </a:p>
          <a:p>
            <a:r>
              <a:rPr lang="sr-Latn-RS" noProof="1"/>
              <a:t>Metoda DWT+SVD zato predstavlja kompromis između:</a:t>
            </a:r>
          </a:p>
          <a:p>
            <a:pPr lvl="1"/>
            <a:r>
              <a:rPr lang="sr-Latn-RS" noProof="1"/>
              <a:t>kvaliteta slike,</a:t>
            </a:r>
          </a:p>
          <a:p>
            <a:pPr lvl="1"/>
            <a:r>
              <a:rPr lang="sr-Latn-RS" noProof="1"/>
              <a:t>sigurnosti i skrivenosti informacije,</a:t>
            </a:r>
          </a:p>
          <a:p>
            <a:pPr lvl="1"/>
            <a:r>
              <a:rPr lang="sr-Latn-RS" noProof="1"/>
              <a:t>otpornosti na degradaciju sadržaja.</a:t>
            </a:r>
          </a:p>
        </p:txBody>
      </p:sp>
    </p:spTree>
    <p:extLst>
      <p:ext uri="{BB962C8B-B14F-4D97-AF65-F5344CB8AC3E}">
        <p14:creationId xmlns:p14="http://schemas.microsoft.com/office/powerpoint/2010/main" val="1027313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2698631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" name="Google Shape;1246;p48"/>
          <p:cNvSpPr txBox="1">
            <a:spLocks noGrp="1"/>
          </p:cNvSpPr>
          <p:nvPr>
            <p:ph type="subTitle" idx="1"/>
          </p:nvPr>
        </p:nvSpPr>
        <p:spPr bwMode="auto">
          <a:xfrm>
            <a:off x="6284162" y="2143512"/>
            <a:ext cx="5470162" cy="167159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defRPr/>
            </a:pPr>
            <a:r>
              <a:rPr lang="sr-Latn-RS" noProof="1"/>
              <a:t>Demonstracija </a:t>
            </a:r>
            <a:r>
              <a:rPr lang="sr-Latn-RS" noProof="1">
                <a:solidFill>
                  <a:schemeClr val="lt1"/>
                </a:solidFill>
              </a:rPr>
              <a:t>Proizvoda</a:t>
            </a:r>
            <a:endParaRPr lang="sr-Latn-RS" noProof="1"/>
          </a:p>
        </p:txBody>
      </p:sp>
      <p:pic>
        <p:nvPicPr>
          <p:cNvPr id="1247" name="Google Shape;1247;p48"/>
          <p:cNvPicPr>
            <a:picLocks noGrp="1"/>
          </p:cNvPicPr>
          <p:nvPr>
            <p:ph type="pic" idx="3"/>
          </p:nvPr>
        </p:nvPicPr>
        <p:blipFill>
          <a:blip r:embed="rId3">
            <a:alphaModFix/>
          </a:blip>
          <a:srcRect t="16666" b="16665"/>
          <a:stretch/>
        </p:blipFill>
        <p:spPr bwMode="auto">
          <a:xfrm>
            <a:off x="1249800" y="1457800"/>
            <a:ext cx="3942400" cy="3942400"/>
          </a:xfrm>
          <a:prstGeom prst="ellipse">
            <a:avLst/>
          </a:prstGeom>
        </p:spPr>
      </p:pic>
      <p:sp>
        <p:nvSpPr>
          <p:cNvPr id="1249" name="Google Shape;1249;p48"/>
          <p:cNvSpPr/>
          <p:nvPr/>
        </p:nvSpPr>
        <p:spPr bwMode="auto">
          <a:xfrm>
            <a:off x="2751367" y="2980000"/>
            <a:ext cx="898000" cy="89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defRPr/>
            </a:pPr>
            <a:endParaRPr lang="sr-Latn-RS" sz="2400" noProof="1"/>
          </a:p>
        </p:txBody>
      </p:sp>
      <p:grpSp>
        <p:nvGrpSpPr>
          <p:cNvPr id="1250" name="Google Shape;1250;p48"/>
          <p:cNvGrpSpPr/>
          <p:nvPr/>
        </p:nvGrpSpPr>
        <p:grpSpPr bwMode="auto">
          <a:xfrm>
            <a:off x="2945702" y="3210536"/>
            <a:ext cx="509332" cy="436928"/>
            <a:chOff x="-3037625" y="3254850"/>
            <a:chExt cx="299325" cy="256775"/>
          </a:xfrm>
        </p:grpSpPr>
        <p:sp>
          <p:nvSpPr>
            <p:cNvPr id="1251" name="Google Shape;1251;p48"/>
            <p:cNvSpPr/>
            <p:nvPr/>
          </p:nvSpPr>
          <p:spPr bwMode="auto">
            <a:xfrm>
              <a:off x="-3037625" y="3460400"/>
              <a:ext cx="152825" cy="51225"/>
            </a:xfrm>
            <a:custGeom>
              <a:avLst/>
              <a:gdLst/>
              <a:ahLst/>
              <a:cxnLst/>
              <a:rect l="l" t="t" r="r" b="b"/>
              <a:pathLst>
                <a:path w="6113" h="2049" extrusionOk="0">
                  <a:moveTo>
                    <a:pt x="1356" y="1"/>
                  </a:moveTo>
                  <a:cubicBezTo>
                    <a:pt x="1" y="1"/>
                    <a:pt x="1" y="2049"/>
                    <a:pt x="1356" y="2049"/>
                  </a:cubicBezTo>
                  <a:lnTo>
                    <a:pt x="4758" y="2049"/>
                  </a:lnTo>
                  <a:cubicBezTo>
                    <a:pt x="6113" y="2049"/>
                    <a:pt x="6113" y="1"/>
                    <a:pt x="47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lang="sr-Latn-RS" sz="2400" noProof="1"/>
            </a:p>
          </p:txBody>
        </p:sp>
        <p:sp>
          <p:nvSpPr>
            <p:cNvPr id="1252" name="Google Shape;1252;p48"/>
            <p:cNvSpPr/>
            <p:nvPr/>
          </p:nvSpPr>
          <p:spPr bwMode="auto">
            <a:xfrm>
              <a:off x="-2884825" y="3460400"/>
              <a:ext cx="146525" cy="51225"/>
            </a:xfrm>
            <a:custGeom>
              <a:avLst/>
              <a:gdLst/>
              <a:ahLst/>
              <a:cxnLst/>
              <a:rect l="l" t="t" r="r" b="b"/>
              <a:pathLst>
                <a:path w="5861" h="2049" extrusionOk="0">
                  <a:moveTo>
                    <a:pt x="1" y="1"/>
                  </a:moveTo>
                  <a:cubicBezTo>
                    <a:pt x="473" y="631"/>
                    <a:pt x="473" y="1419"/>
                    <a:pt x="1" y="2049"/>
                  </a:cubicBezTo>
                  <a:lnTo>
                    <a:pt x="4853" y="2049"/>
                  </a:lnTo>
                  <a:cubicBezTo>
                    <a:pt x="5388" y="2049"/>
                    <a:pt x="5861" y="1576"/>
                    <a:pt x="5861" y="1041"/>
                  </a:cubicBezTo>
                  <a:cubicBezTo>
                    <a:pt x="5861" y="442"/>
                    <a:pt x="5451" y="1"/>
                    <a:pt x="48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lang="sr-Latn-RS" sz="2400" noProof="1"/>
            </a:p>
          </p:txBody>
        </p:sp>
        <p:sp>
          <p:nvSpPr>
            <p:cNvPr id="1253" name="Google Shape;1253;p48"/>
            <p:cNvSpPr/>
            <p:nvPr/>
          </p:nvSpPr>
          <p:spPr bwMode="auto">
            <a:xfrm>
              <a:off x="-2909225" y="3313125"/>
              <a:ext cx="59875" cy="72475"/>
            </a:xfrm>
            <a:custGeom>
              <a:avLst/>
              <a:gdLst/>
              <a:ahLst/>
              <a:cxnLst/>
              <a:rect l="l" t="t" r="r" b="b"/>
              <a:pathLst>
                <a:path w="2395" h="2899" extrusionOk="0">
                  <a:moveTo>
                    <a:pt x="0" y="1"/>
                  </a:moveTo>
                  <a:lnTo>
                    <a:pt x="0" y="2899"/>
                  </a:lnTo>
                  <a:lnTo>
                    <a:pt x="2395" y="1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lang="sr-Latn-RS" sz="2400" noProof="1"/>
            </a:p>
          </p:txBody>
        </p:sp>
        <p:sp>
          <p:nvSpPr>
            <p:cNvPr id="1254" name="Google Shape;1254;p48"/>
            <p:cNvSpPr/>
            <p:nvPr/>
          </p:nvSpPr>
          <p:spPr bwMode="auto">
            <a:xfrm>
              <a:off x="-3029750" y="3254850"/>
              <a:ext cx="291450" cy="188250"/>
            </a:xfrm>
            <a:custGeom>
              <a:avLst/>
              <a:gdLst/>
              <a:ahLst/>
              <a:cxnLst/>
              <a:rect l="l" t="t" r="r" b="b"/>
              <a:pathLst>
                <a:path w="11658" h="7530" extrusionOk="0">
                  <a:moveTo>
                    <a:pt x="4414" y="1387"/>
                  </a:moveTo>
                  <a:cubicBezTo>
                    <a:pt x="4476" y="1387"/>
                    <a:pt x="4541" y="1407"/>
                    <a:pt x="4601" y="1449"/>
                  </a:cubicBezTo>
                  <a:lnTo>
                    <a:pt x="8035" y="3497"/>
                  </a:lnTo>
                  <a:cubicBezTo>
                    <a:pt x="8287" y="3623"/>
                    <a:pt x="8287" y="3938"/>
                    <a:pt x="8035" y="4064"/>
                  </a:cubicBezTo>
                  <a:lnTo>
                    <a:pt x="4601" y="6112"/>
                  </a:lnTo>
                  <a:cubicBezTo>
                    <a:pt x="4552" y="6140"/>
                    <a:pt x="4500" y="6153"/>
                    <a:pt x="4448" y="6153"/>
                  </a:cubicBezTo>
                  <a:cubicBezTo>
                    <a:pt x="4268" y="6153"/>
                    <a:pt x="4097" y="6000"/>
                    <a:pt x="4097" y="5829"/>
                  </a:cubicBezTo>
                  <a:lnTo>
                    <a:pt x="4097" y="1733"/>
                  </a:lnTo>
                  <a:cubicBezTo>
                    <a:pt x="4097" y="1527"/>
                    <a:pt x="4247" y="1387"/>
                    <a:pt x="4414" y="1387"/>
                  </a:cubicBezTo>
                  <a:close/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6490"/>
                  </a:lnTo>
                  <a:cubicBezTo>
                    <a:pt x="1" y="7057"/>
                    <a:pt x="473" y="7530"/>
                    <a:pt x="1041" y="7530"/>
                  </a:cubicBezTo>
                  <a:lnTo>
                    <a:pt x="10650" y="7530"/>
                  </a:lnTo>
                  <a:cubicBezTo>
                    <a:pt x="11185" y="7530"/>
                    <a:pt x="11658" y="7057"/>
                    <a:pt x="11658" y="6490"/>
                  </a:cubicBezTo>
                  <a:lnTo>
                    <a:pt x="11658" y="1040"/>
                  </a:lnTo>
                  <a:cubicBezTo>
                    <a:pt x="11658" y="473"/>
                    <a:pt x="11248" y="0"/>
                    <a:pt x="106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lang="sr-Latn-RS" sz="2400" noProof="1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7B41-BB2A-6E37-88D2-46BACE7C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cap="none" noProof="1"/>
              <a:t>Evaluacija kvaliteta slike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E9B27-5E78-9216-BB79-641D758D3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b="1" noProof="1"/>
              <a:t>PSNR</a:t>
            </a:r>
            <a:r>
              <a:rPr lang="sr-Latn-RS" noProof="1"/>
              <a:t> (Peak Signal-to-Noise Ratio) - meri razliku između originalne i obeležene slike (veće vrednosti = manja izobličenja).</a:t>
            </a:r>
          </a:p>
          <a:p>
            <a:r>
              <a:rPr lang="sr-Latn-RS" b="1" noProof="1"/>
              <a:t>SSIM</a:t>
            </a:r>
            <a:r>
              <a:rPr lang="sr-Latn-RS" noProof="1"/>
              <a:t> (Structural Similarity Index) - meri sličnost strukture slike (vrednosti blizu 1 znače visok kvalitet).</a:t>
            </a:r>
          </a:p>
          <a:p>
            <a:r>
              <a:rPr lang="sr-Latn-RS" noProof="1"/>
              <a:t>U ovoj metodi cilj je da se nakon ugradnje watermarka zadrže visoke vrednosti PSNR i SSIM, tj. da razlika bude vizuelno neprimetna.</a:t>
            </a:r>
          </a:p>
        </p:txBody>
      </p:sp>
    </p:spTree>
    <p:extLst>
      <p:ext uri="{BB962C8B-B14F-4D97-AF65-F5344CB8AC3E}">
        <p14:creationId xmlns:p14="http://schemas.microsoft.com/office/powerpoint/2010/main" val="352328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338B-B4C3-CCB3-42AE-DCA48807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cap="none" noProof="1"/>
              <a:t>Evaluacija robustnosti watermarka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DE421-11D0-F205-CBA5-AFA72CF93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2249486"/>
            <a:ext cx="9905999" cy="3989995"/>
          </a:xfrm>
        </p:spPr>
        <p:txBody>
          <a:bodyPr>
            <a:normAutofit/>
          </a:bodyPr>
          <a:lstStyle/>
          <a:p>
            <a:r>
              <a:rPr lang="sr-Latn-RS" noProof="1"/>
              <a:t>Robustnost proverena nakon tipičnih napada nad slikom:</a:t>
            </a:r>
          </a:p>
          <a:p>
            <a:pPr lvl="1"/>
            <a:r>
              <a:rPr lang="sr-Latn-RS" noProof="1"/>
              <a:t>JPEG kompresija</a:t>
            </a:r>
          </a:p>
          <a:p>
            <a:pPr lvl="1"/>
            <a:r>
              <a:rPr lang="sr-Latn-RS" noProof="1"/>
              <a:t>dodavanje šuma</a:t>
            </a:r>
          </a:p>
          <a:p>
            <a:pPr lvl="1"/>
            <a:r>
              <a:rPr lang="sr-Latn-RS" noProof="1"/>
              <a:t>zamućenje (blur)</a:t>
            </a:r>
          </a:p>
          <a:p>
            <a:pPr lvl="1"/>
            <a:r>
              <a:rPr lang="sr-Latn-RS" noProof="1"/>
              <a:t>skaliranje, rotacija</a:t>
            </a:r>
          </a:p>
          <a:p>
            <a:r>
              <a:rPr lang="sr-Latn-RS" b="1" noProof="1"/>
              <a:t>NC</a:t>
            </a:r>
            <a:r>
              <a:rPr lang="sr-Latn-RS" noProof="1"/>
              <a:t> (Normalized Correlation) i/ili </a:t>
            </a:r>
            <a:r>
              <a:rPr lang="sr-Latn-RS" b="1" noProof="1"/>
              <a:t>BER</a:t>
            </a:r>
            <a:r>
              <a:rPr lang="sr-Latn-RS" noProof="1"/>
              <a:t> (Bit Error Rate) koriste se za merenje sličnosti između originalnog i izdvojenog watermarka.</a:t>
            </a:r>
          </a:p>
          <a:p>
            <a:r>
              <a:rPr lang="sr-Latn-RS" noProof="1"/>
              <a:t>Cilj: da se watermark i dalje prepozna nakon napada.</a:t>
            </a:r>
          </a:p>
        </p:txBody>
      </p:sp>
    </p:spTree>
    <p:extLst>
      <p:ext uri="{BB962C8B-B14F-4D97-AF65-F5344CB8AC3E}">
        <p14:creationId xmlns:p14="http://schemas.microsoft.com/office/powerpoint/2010/main" val="1556835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7B82-F914-8FFC-F810-254127C4C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cap="none" noProof="1"/>
              <a:t>Rezultati i zapažanja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CEC5B-15E5-EBE0-4435-51DEE3589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2249487"/>
            <a:ext cx="9905999" cy="4161252"/>
          </a:xfrm>
        </p:spPr>
        <p:txBody>
          <a:bodyPr>
            <a:normAutofit/>
          </a:bodyPr>
          <a:lstStyle/>
          <a:p>
            <a:r>
              <a:rPr lang="sr-Latn-RS" noProof="1"/>
              <a:t>Obeležene slike zadržavaju visok vizuelni kvalitet (visok PSNR, SSIM blizak 1).</a:t>
            </a:r>
          </a:p>
          <a:p>
            <a:r>
              <a:rPr lang="sr-Latn-RS" noProof="1"/>
              <a:t>Watermark ostaje pouzdano detektovan nakon:</a:t>
            </a:r>
          </a:p>
          <a:p>
            <a:pPr lvl="1"/>
            <a:r>
              <a:rPr lang="sr-Latn-RS" noProof="1"/>
              <a:t>JPEG kompresije,</a:t>
            </a:r>
          </a:p>
          <a:p>
            <a:pPr lvl="1"/>
            <a:r>
              <a:rPr lang="sr-Latn-RS" noProof="1"/>
              <a:t>umerenog šuma.</a:t>
            </a:r>
          </a:p>
          <a:p>
            <a:r>
              <a:rPr lang="sr-Latn-RS" noProof="1"/>
              <a:t>Osetljivost se javlja kod:</a:t>
            </a:r>
          </a:p>
          <a:p>
            <a:pPr lvl="1"/>
            <a:r>
              <a:rPr lang="sr-Latn-RS" noProof="1"/>
              <a:t>jačeg zamućenja,</a:t>
            </a:r>
          </a:p>
          <a:p>
            <a:pPr lvl="1"/>
            <a:r>
              <a:rPr lang="sr-Latn-RS" noProof="1"/>
              <a:t>geometrijskih transformacija (rotacija, veće promene rezolucije).</a:t>
            </a:r>
          </a:p>
          <a:p>
            <a:r>
              <a:rPr lang="sr-Latn-RS" noProof="1"/>
              <a:t>Zaključak: dobar kompromis između nevidljivosti i robusnosti.</a:t>
            </a:r>
          </a:p>
        </p:txBody>
      </p:sp>
    </p:spTree>
    <p:extLst>
      <p:ext uri="{BB962C8B-B14F-4D97-AF65-F5344CB8AC3E}">
        <p14:creationId xmlns:p14="http://schemas.microsoft.com/office/powerpoint/2010/main" val="332325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DEA18-2CAC-762C-A77C-3C54F6150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cap="none" noProof="1"/>
              <a:t>Original vs. Watermarked</a:t>
            </a:r>
            <a:endParaRPr lang="sr-Latn-RS" noProof="1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15CFAB2-667D-357B-44C6-B9E3C32331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277" y="2329001"/>
            <a:ext cx="5080534" cy="3387023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1F2D36-2A0C-36EE-DF85-E48053E9A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811" y="2329001"/>
            <a:ext cx="5080536" cy="33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96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56DF-4ECE-F2AB-B750-67FF185E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130054"/>
            <a:ext cx="9905999" cy="1008256"/>
          </a:xfrm>
        </p:spPr>
        <p:txBody>
          <a:bodyPr/>
          <a:lstStyle/>
          <a:p>
            <a:pPr algn="ctr"/>
            <a:r>
              <a:rPr lang="sr-Latn-RS" cap="none" noProof="1"/>
              <a:t>Izdvojeni watermark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C84E62-D2CA-9F4F-8174-1DB2F7F31A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859561"/>
              </p:ext>
            </p:extLst>
          </p:nvPr>
        </p:nvGraphicFramePr>
        <p:xfrm>
          <a:off x="1141413" y="1759226"/>
          <a:ext cx="9906000" cy="4480256"/>
        </p:xfrm>
        <a:graphic>
          <a:graphicData uri="http://schemas.openxmlformats.org/drawingml/2006/table">
            <a:tbl>
              <a:tblPr bandRow="1"/>
              <a:tblGrid>
                <a:gridCol w="4953000">
                  <a:extLst>
                    <a:ext uri="{9D8B030D-6E8A-4147-A177-3AD203B41FA5}">
                      <a16:colId xmlns:a16="http://schemas.microsoft.com/office/drawing/2014/main" val="417959363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740857830"/>
                    </a:ext>
                  </a:extLst>
                </a:gridCol>
              </a:tblGrid>
              <a:tr h="2240128">
                <a:tc>
                  <a:txBody>
                    <a:bodyPr/>
                    <a:lstStyle/>
                    <a:p>
                      <a:endParaRPr lang="sr-Latn-RS" noProof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sr-Latn-RS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7080812"/>
                  </a:ext>
                </a:extLst>
              </a:tr>
              <a:tr h="2240128">
                <a:tc>
                  <a:txBody>
                    <a:bodyPr/>
                    <a:lstStyle/>
                    <a:p>
                      <a:endParaRPr lang="sr-Latn-RS" noProof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sr-Latn-RS" noProof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059245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9126604-5510-E08C-AF11-B3A66F7B7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443" y="1236721"/>
            <a:ext cx="3372265" cy="2248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3BA62F-9972-2B26-3E7E-A26F7AC30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794" y="1153897"/>
            <a:ext cx="3496502" cy="2331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B8CF2D-6C27-72BA-88DF-08831D950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183" y="4409578"/>
            <a:ext cx="3372265" cy="22481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3E2185-E68B-4DF9-7B0B-A387517BA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056" y="4409578"/>
            <a:ext cx="3372266" cy="22481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187B98-307B-A61F-D4C9-9C3CF76F6216}"/>
              </a:ext>
            </a:extLst>
          </p:cNvPr>
          <p:cNvSpPr txBox="1"/>
          <p:nvPr/>
        </p:nvSpPr>
        <p:spPr>
          <a:xfrm>
            <a:off x="2308984" y="3552916"/>
            <a:ext cx="2504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noProof="1"/>
              <a:t>Bez napada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099C64-C478-14BE-BF3F-63F7793D749D}"/>
              </a:ext>
            </a:extLst>
          </p:cNvPr>
          <p:cNvSpPr txBox="1"/>
          <p:nvPr/>
        </p:nvSpPr>
        <p:spPr>
          <a:xfrm>
            <a:off x="7546910" y="3577906"/>
            <a:ext cx="2233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noProof="1"/>
              <a:t>Posle JPEG kompresije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0BA86E-8526-8FD9-7716-827D05ABFC93}"/>
              </a:ext>
            </a:extLst>
          </p:cNvPr>
          <p:cNvSpPr txBox="1"/>
          <p:nvPr/>
        </p:nvSpPr>
        <p:spPr>
          <a:xfrm>
            <a:off x="2990228" y="4040246"/>
            <a:ext cx="1570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noProof="1"/>
              <a:t>Posle šuma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0AC01-5682-C8B9-1CCF-BE8F23E2AFEF}"/>
              </a:ext>
            </a:extLst>
          </p:cNvPr>
          <p:cNvSpPr txBox="1"/>
          <p:nvPr/>
        </p:nvSpPr>
        <p:spPr>
          <a:xfrm>
            <a:off x="7951305" y="4090227"/>
            <a:ext cx="1570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noProof="1"/>
              <a:t>Posle blur-a</a:t>
            </a:r>
          </a:p>
        </p:txBody>
      </p:sp>
    </p:spTree>
    <p:extLst>
      <p:ext uri="{BB962C8B-B14F-4D97-AF65-F5344CB8AC3E}">
        <p14:creationId xmlns:p14="http://schemas.microsoft.com/office/powerpoint/2010/main" val="1588955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D728E-6175-4B3C-3637-EFB1F8443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cap="none" noProof="1"/>
              <a:t>Prednosti i ograničenja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94832-7A6E-AF2A-4F44-EE9682A6C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noProof="1"/>
              <a:t>Prednosti:</a:t>
            </a:r>
          </a:p>
          <a:p>
            <a:pPr lvl="1"/>
            <a:r>
              <a:rPr lang="sr-Latn-RS" noProof="1"/>
              <a:t>nevidljiv watermark,</a:t>
            </a:r>
          </a:p>
          <a:p>
            <a:pPr lvl="1"/>
            <a:r>
              <a:rPr lang="sr-Latn-RS" noProof="1"/>
              <a:t>povećana robustnost u odnosu na prostorne metode,</a:t>
            </a:r>
          </a:p>
          <a:p>
            <a:pPr lvl="1"/>
            <a:r>
              <a:rPr lang="sr-Latn-RS" noProof="1"/>
              <a:t>pogodna kombinacija za zaštitu autorskih prava.</a:t>
            </a:r>
          </a:p>
          <a:p>
            <a:r>
              <a:rPr lang="sr-Latn-RS" noProof="1"/>
              <a:t>Ograničenja:</a:t>
            </a:r>
          </a:p>
          <a:p>
            <a:pPr lvl="1"/>
            <a:r>
              <a:rPr lang="sr-Latn-RS" noProof="1"/>
              <a:t>složenija implementacija,</a:t>
            </a:r>
          </a:p>
          <a:p>
            <a:pPr lvl="1"/>
            <a:r>
              <a:rPr lang="sr-Latn-RS" noProof="1"/>
              <a:t>smanjena otpornost na jake geometrijske napade bez dodatnih mehanizama (sinhronizacija, kodiranje).</a:t>
            </a:r>
          </a:p>
        </p:txBody>
      </p:sp>
    </p:spTree>
    <p:extLst>
      <p:ext uri="{BB962C8B-B14F-4D97-AF65-F5344CB8AC3E}">
        <p14:creationId xmlns:p14="http://schemas.microsoft.com/office/powerpoint/2010/main" val="3919242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1BE4-4D8C-0A70-05C0-A0405C61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sz="4000" cap="none" noProof="1"/>
              <a:t>Zaključak</a:t>
            </a:r>
            <a:endParaRPr lang="sr-Latn-RS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12E60-9179-A94D-C10E-EA75EEEF5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noProof="1"/>
              <a:t>Kombinacija DWT + SVD omogućava ugradnju nevidljivog i relativno robustnog watermarka.</a:t>
            </a:r>
          </a:p>
          <a:p>
            <a:r>
              <a:rPr lang="sr-Latn-RS" noProof="1"/>
              <a:t>Postignut balans između:</a:t>
            </a:r>
          </a:p>
          <a:p>
            <a:pPr lvl="1"/>
            <a:r>
              <a:rPr lang="sr-Latn-RS" noProof="1"/>
              <a:t>kvaliteta slike,</a:t>
            </a:r>
          </a:p>
          <a:p>
            <a:pPr lvl="1"/>
            <a:r>
              <a:rPr lang="sr-Latn-RS" noProof="1"/>
              <a:t>sigurnosti i skrivenosti informacije,</a:t>
            </a:r>
          </a:p>
          <a:p>
            <a:pPr lvl="1"/>
            <a:r>
              <a:rPr lang="sr-Latn-RS" noProof="1"/>
              <a:t>otpornosti na tipične napade.</a:t>
            </a:r>
          </a:p>
          <a:p>
            <a:r>
              <a:rPr lang="sr-Latn-RS" noProof="1"/>
              <a:t>Pristup je primenljiv u zaštiti autorskih prava, forenzici i proveri autentičnosti digitalnih slika.</a:t>
            </a:r>
          </a:p>
        </p:txBody>
      </p:sp>
    </p:spTree>
    <p:extLst>
      <p:ext uri="{BB962C8B-B14F-4D97-AF65-F5344CB8AC3E}">
        <p14:creationId xmlns:p14="http://schemas.microsoft.com/office/powerpoint/2010/main" val="3287646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080012-4645-D405-FE4E-21856609D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689715"/>
            <a:ext cx="9905999" cy="1478570"/>
          </a:xfrm>
        </p:spPr>
        <p:txBody>
          <a:bodyPr>
            <a:normAutofit/>
          </a:bodyPr>
          <a:lstStyle/>
          <a:p>
            <a:pPr algn="ctr"/>
            <a:r>
              <a:rPr lang="sr-Latn-RS" sz="6000" dirty="0"/>
              <a:t>Hvala na pažnji!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2507328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ysClr val="window" lastClr="FFFFFF"/>
      </a:lt1>
      <a:dk2>
        <a:srgbClr val="002060"/>
      </a:dk2>
      <a:lt2>
        <a:srgbClr val="F2F2F2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4DE6887-7672-472D-80ED-4C419E506D2A}" vid="{4D5E14EC-97EF-4EA6-B1FA-961833220B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Automated Planning in Robotics</Template>
  <TotalTime>2818</TotalTime>
  <Words>1230</Words>
  <Application>Microsoft Office PowerPoint</Application>
  <PresentationFormat>Widescreen</PresentationFormat>
  <Paragraphs>123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Bebas Neue</vt:lpstr>
      <vt:lpstr>Calibri</vt:lpstr>
      <vt:lpstr>Cambria Math</vt:lpstr>
      <vt:lpstr>Shippori Antique</vt:lpstr>
      <vt:lpstr>Tw Cen MT</vt:lpstr>
      <vt:lpstr>Theme1</vt:lpstr>
      <vt:lpstr>DWT i SVD algoritmi Steganografija i watermarking</vt:lpstr>
      <vt:lpstr>Uvod u steganografiju</vt:lpstr>
      <vt:lpstr>Steganografija vs. Kriptografija</vt:lpstr>
      <vt:lpstr>Tehnike steganografije slika</vt:lpstr>
      <vt:lpstr>Zašto DWT i SVD?</vt:lpstr>
      <vt:lpstr>Digitalni Watermarking</vt:lpstr>
      <vt:lpstr>DWT (Discrete Wavelet Transform)</vt:lpstr>
      <vt:lpstr>SWD (Singular Value Decomposition)</vt:lpstr>
      <vt:lpstr>SWD (Singular Value Decomposition)</vt:lpstr>
      <vt:lpstr>Kombinacija DWT+SVD</vt:lpstr>
      <vt:lpstr>PowerPoint Presentation</vt:lpstr>
      <vt:lpstr>Evaluacija kvaliteta slike</vt:lpstr>
      <vt:lpstr>Evaluacija robustnosti watermarka</vt:lpstr>
      <vt:lpstr>Rezultati i zapažanja</vt:lpstr>
      <vt:lpstr>Original vs. Watermarked</vt:lpstr>
      <vt:lpstr>Izdvojeni watermark</vt:lpstr>
      <vt:lpstr>Prednosti i ograničenja</vt:lpstr>
      <vt:lpstr>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Anastasija Vasić</dc:creator>
  <cp:lastModifiedBy>Anastasija Vasić</cp:lastModifiedBy>
  <cp:revision>1</cp:revision>
  <dcterms:created xsi:type="dcterms:W3CDTF">2025-11-04T22:44:51Z</dcterms:created>
  <dcterms:modified xsi:type="dcterms:W3CDTF">2025-11-06T21:42:59Z</dcterms:modified>
</cp:coreProperties>
</file>